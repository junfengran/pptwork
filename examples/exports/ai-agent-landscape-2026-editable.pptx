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171" y="1923682"/>
            <a:ext cx="10360609" cy="199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D977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MARKET BRIEF ·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171" y="2314110"/>
            <a:ext cx="5576832" cy="1705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dirty="0">
                <a:solidFill>
                  <a:srgbClr val="14141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Agent market crosses USD 100B by 2028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171" y="4286631"/>
            <a:ext cx="5895840" cy="647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73706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Agents evolve from chat wrappers to autonomous workflow orchestration across the enterprise stack.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7"/>
            <a:ext cx="57136" cy="68562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171" y="1937371"/>
            <a:ext cx="10360609" cy="822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6480"/>
              </a:lnSpc>
              <a:buNone/>
            </a:pPr>
            <a:r>
              <a:rPr lang="en-US" sz="7200" b="1" dirty="0">
                <a:solidFill>
                  <a:srgbClr val="804A3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PART 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171" y="2874159"/>
            <a:ext cx="6232703" cy="11095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370"/>
              </a:lnSpc>
              <a:buNone/>
            </a:pPr>
            <a:r>
              <a:rPr lang="en-US" sz="3800" b="1" dirty="0">
                <a:solidFill>
                  <a:srgbClr val="14141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Enterprises still run 70% of workflows without agents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914171" y="4212235"/>
            <a:ext cx="5960564" cy="7082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73706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Manual handoffs, brittle RPA, and siloed copilots leave most knowledge work unautomated.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09" y="2204451"/>
            <a:ext cx="10665333" cy="371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0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 reaches USD 47B in 2026 with 42% CAGR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61809" y="2956738"/>
            <a:ext cx="2677195" cy="6600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$47B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61809" y="3731046"/>
            <a:ext cx="2677195" cy="284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Total addressable market ·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96090" y="2956738"/>
            <a:ext cx="3264324" cy="6600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896090" y="3731046"/>
            <a:ext cx="3264324" cy="284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Compound annual growth · 2024–2028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17500" y="2956738"/>
            <a:ext cx="3235012" cy="6600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3.2×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617500" y="3731046"/>
            <a:ext cx="3235012" cy="2843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Enterprise vs consumer spend by 2028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1809" y="4472619"/>
            <a:ext cx="10665333" cy="1809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Source: illustrative estimates for sample deck · verify before external use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48" y="457943"/>
            <a:ext cx="10970057" cy="371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A20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Incumbents vs startups split the stack differently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09448" y="1057868"/>
            <a:ext cx="5332667" cy="1999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COMPETITIVE MAP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246838" y="1057868"/>
            <a:ext cx="5332667" cy="5342189"/>
          </a:xfrm>
          <a:prstGeom prst="roundRect">
            <a:avLst>
              <a:gd name="adj" fmla="val 1429"/>
            </a:avLst>
          </a:prstGeom>
          <a:ln w="9523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46838" y="1057868"/>
            <a:ext cx="5332667" cy="5342189"/>
          </a:xfrm>
          <a:prstGeom prst="roundRect">
            <a:avLst>
              <a:gd name="adj" fmla="val 1429"/>
            </a:avLst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6446813" y="1257843"/>
            <a:ext cx="4932717" cy="2190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A20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strength by player type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89955" y="1381637"/>
            <a:ext cx="3432011" cy="247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A203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 models, cloud runtime, agent marketplaces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9900" y="1381637"/>
            <a:ext cx="990055" cy="247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A203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Hyperscalers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9448" y="1467341"/>
            <a:ext cx="76181" cy="76181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1449670" y="1762542"/>
            <a:ext cx="3675880" cy="247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A203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 vertical agents, orchestration, eval &amp; guardrails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9900" y="1762542"/>
            <a:ext cx="649770" cy="247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A203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Startups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9448" y="1848245"/>
            <a:ext cx="76181" cy="76181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1103433" y="2143446"/>
            <a:ext cx="3687783" cy="247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A203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— cross-tool memory and enterprise policy layers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99900" y="2143446"/>
            <a:ext cx="303533" cy="247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A203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Gap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448" y="2229150"/>
            <a:ext cx="76181" cy="76181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813" y="1591135"/>
            <a:ext cx="4932717" cy="46089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905" y="381762"/>
            <a:ext cx="11427143" cy="3809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14141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forces reshape agent architecture in 2026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80905" y="953119"/>
            <a:ext cx="7490879" cy="5523119"/>
          </a:xfrm>
          <a:prstGeom prst="roundRect">
            <a:avLst>
              <a:gd name="adj" fmla="val 2069"/>
            </a:avLst>
          </a:prstGeom>
          <a:ln w="9523">
            <a:solidFill>
              <a:srgbClr val="E8E6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0905" y="953119"/>
            <a:ext cx="7490879" cy="5523119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18970" y="1457818"/>
            <a:ext cx="7014748" cy="257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141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Multi-agent orchestration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18970" y="1791110"/>
            <a:ext cx="7014748" cy="791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73706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Specialist agents coordinate via shared memory and handoff protocols. Single monolithic copilots lose to composable swarms in complex workflows — especially in ops, support, and research pipelines.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062236" y="953119"/>
            <a:ext cx="3745663" cy="2666333"/>
          </a:xfrm>
          <a:prstGeom prst="roundRect">
            <a:avLst>
              <a:gd name="adj" fmla="val 4286"/>
            </a:avLst>
          </a:prstGeom>
          <a:ln w="9523">
            <a:solidFill>
              <a:srgbClr val="E8E6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62236" y="953119"/>
            <a:ext cx="3745663" cy="2666333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300301" y="1457818"/>
            <a:ext cx="3269532" cy="257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141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Tool-use standards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00301" y="1791110"/>
            <a:ext cx="3269532" cy="5279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73706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MCP and OpenAPI bridges normalize how agents call enterprise systems.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62236" y="3809905"/>
            <a:ext cx="3745663" cy="2666333"/>
          </a:xfrm>
          <a:prstGeom prst="roundRect">
            <a:avLst>
              <a:gd name="adj" fmla="val 4286"/>
            </a:avLst>
          </a:prstGeom>
          <a:ln w="9523">
            <a:solidFill>
              <a:srgbClr val="E8E6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62236" y="3809905"/>
            <a:ext cx="3745663" cy="2666333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300301" y="4314604"/>
            <a:ext cx="3269532" cy="257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141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Eval &amp; guardrails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00301" y="4647895"/>
            <a:ext cx="3269532" cy="5279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73706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Offline eval suites and runtime policy engines become purchase criteria.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8970" y="1219752"/>
            <a:ext cx="646645" cy="1618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D977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TREND 01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00301" y="1219752"/>
            <a:ext cx="665988" cy="1618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D977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TREND 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300301" y="4076538"/>
            <a:ext cx="667327" cy="1618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D9775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TREND 03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448" y="457943"/>
            <a:ext cx="10970057" cy="4189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14141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 roadmap aligns to three adoption waves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9448" y="1581612"/>
            <a:ext cx="2628243" cy="257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141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Q1 · Assist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6583" y="1914904"/>
            <a:ext cx="2513971" cy="2208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73706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Copilot overlays on existing tools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980705" y="1305456"/>
            <a:ext cx="1371257" cy="19045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6" name="Text 4"/>
          <p:cNvSpPr/>
          <p:nvPr/>
        </p:nvSpPr>
        <p:spPr>
          <a:xfrm>
            <a:off x="3351962" y="1581612"/>
            <a:ext cx="2628243" cy="257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141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Q2 · Automate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09098" y="1914904"/>
            <a:ext cx="2513971" cy="4416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73706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Semi-autonomous multi-step workflows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51962" y="1305456"/>
            <a:ext cx="2742514" cy="19045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9" name="Text 7"/>
          <p:cNvSpPr/>
          <p:nvPr/>
        </p:nvSpPr>
        <p:spPr>
          <a:xfrm>
            <a:off x="6094476" y="1581612"/>
            <a:ext cx="2628243" cy="257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141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Q3 · Orchestrate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51612" y="1914904"/>
            <a:ext cx="2513971" cy="2208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73706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Agent fleets with shared memory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4476" y="1305456"/>
            <a:ext cx="2742514" cy="19045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12" name="Text 10"/>
          <p:cNvSpPr/>
          <p:nvPr/>
        </p:nvSpPr>
        <p:spPr>
          <a:xfrm>
            <a:off x="8836990" y="1581612"/>
            <a:ext cx="2628243" cy="257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141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Q4 · Scale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4126" y="1914904"/>
            <a:ext cx="2513971" cy="2208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73706A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Enterprise policy + eval at gate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36990" y="1305456"/>
            <a:ext cx="1371257" cy="19045"/>
          </a:xfrm>
          <a:prstGeom prst="rect">
            <a:avLst/>
          </a:prstGeom>
          <a:solidFill>
            <a:srgbClr val="E8E6DC"/>
          </a:solidFill>
          <a:ln/>
        </p:spPr>
      </p:sp>
      <p:sp>
        <p:nvSpPr>
          <p:cNvPr id="15" name="Shape 13"/>
          <p:cNvSpPr/>
          <p:nvPr/>
        </p:nvSpPr>
        <p:spPr>
          <a:xfrm>
            <a:off x="1837865" y="1219752"/>
            <a:ext cx="171407" cy="171407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16" name="Shape 14"/>
          <p:cNvSpPr/>
          <p:nvPr/>
        </p:nvSpPr>
        <p:spPr>
          <a:xfrm>
            <a:off x="4580380" y="1219752"/>
            <a:ext cx="171407" cy="171407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17" name="Shape 15"/>
          <p:cNvSpPr/>
          <p:nvPr/>
        </p:nvSpPr>
        <p:spPr>
          <a:xfrm>
            <a:off x="7322894" y="1219752"/>
            <a:ext cx="171407" cy="171407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18" name="Shape 16"/>
          <p:cNvSpPr/>
          <p:nvPr/>
        </p:nvSpPr>
        <p:spPr>
          <a:xfrm>
            <a:off x="10065408" y="1219752"/>
            <a:ext cx="171407" cy="171407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809" y="1488469"/>
            <a:ext cx="4931526" cy="1576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A20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the orchestration layer before Q4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1809" y="4845638"/>
            <a:ext cx="2794591" cy="523744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4" name="Text 2"/>
          <p:cNvSpPr/>
          <p:nvPr/>
        </p:nvSpPr>
        <p:spPr>
          <a:xfrm>
            <a:off x="1066533" y="4978955"/>
            <a:ext cx="2185143" cy="2571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 deep dive →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2262" y="3331542"/>
            <a:ext cx="3701323" cy="295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Seed round to ship orchestration MVP by Q2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1809" y="3331542"/>
            <a:ext cx="203248" cy="295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D4ED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2262" y="3721969"/>
            <a:ext cx="3482451" cy="295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Design-partner pipeline across 3 verticals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1809" y="3721969"/>
            <a:ext cx="203248" cy="295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D4ED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2262" y="4112397"/>
            <a:ext cx="3870945" cy="295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90-day eval benchmark vs incumbent copilots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1809" y="4112397"/>
            <a:ext cx="203248" cy="2952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D4ED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2026-07-22T09:47:43Z</dcterms:created>
  <dcterms:modified xsi:type="dcterms:W3CDTF">2026-07-22T09:47:43Z</dcterms:modified>
</cp:coreProperties>
</file>